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B092DE-374B-484D-9CC4-A01B486B44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sv-SE"/>
        </a:p>
      </dgm:t>
    </dgm:pt>
    <dgm:pt modelId="{7FE13C54-6652-4EBC-9BE0-73A8BF41FD4D}">
      <dgm:prSet phldrT="[Text]" phldr="0"/>
      <dgm:spPr/>
      <dgm:t>
        <a:bodyPr/>
        <a:lstStyle/>
        <a:p>
          <a:r>
            <a:rPr lang="sv-SE" dirty="0"/>
            <a:t>staged.csv</a:t>
          </a:r>
        </a:p>
      </dgm:t>
    </dgm:pt>
    <dgm:pt modelId="{5B011863-EB54-4843-90E7-4CE00D1E3B2E}" type="parTrans" cxnId="{E71D98AC-0FAC-44E9-B3F1-3E6AD75DCFD7}">
      <dgm:prSet/>
      <dgm:spPr/>
      <dgm:t>
        <a:bodyPr/>
        <a:lstStyle/>
        <a:p>
          <a:endParaRPr lang="sv-SE"/>
        </a:p>
      </dgm:t>
    </dgm:pt>
    <dgm:pt modelId="{F12A28A3-1C1A-4A6E-B67B-858360B50AD0}" type="sibTrans" cxnId="{E71D98AC-0FAC-44E9-B3F1-3E6AD75DCFD7}">
      <dgm:prSet/>
      <dgm:spPr/>
      <dgm:t>
        <a:bodyPr/>
        <a:lstStyle/>
        <a:p>
          <a:endParaRPr lang="sv-SE"/>
        </a:p>
      </dgm:t>
    </dgm:pt>
    <dgm:pt modelId="{A31CE13F-6178-45A2-AF9A-02A7F2296E18}">
      <dgm:prSet phldrT="[Text]" phldr="0"/>
      <dgm:spPr/>
      <dgm:t>
        <a:bodyPr/>
        <a:lstStyle/>
        <a:p>
          <a:r>
            <a:rPr lang="sv-SE" dirty="0" err="1"/>
            <a:t>Pandera</a:t>
          </a:r>
          <a:r>
            <a:rPr lang="sv-SE" dirty="0"/>
            <a:t> (</a:t>
          </a:r>
          <a:r>
            <a:rPr lang="sv-SE" dirty="0" err="1"/>
            <a:t>lazy</a:t>
          </a:r>
          <a:r>
            <a:rPr lang="sv-SE" dirty="0"/>
            <a:t>=True)</a:t>
          </a:r>
        </a:p>
      </dgm:t>
    </dgm:pt>
    <dgm:pt modelId="{69679B73-BD96-4701-ACD2-DB0A2279D11B}" type="parTrans" cxnId="{032D1B5E-6A2C-40EB-AEE3-8CDA64C0B960}">
      <dgm:prSet/>
      <dgm:spPr/>
      <dgm:t>
        <a:bodyPr/>
        <a:lstStyle/>
        <a:p>
          <a:endParaRPr lang="sv-SE"/>
        </a:p>
      </dgm:t>
    </dgm:pt>
    <dgm:pt modelId="{E174A9AA-E2C1-4666-A00F-BC50F0609E14}" type="sibTrans" cxnId="{032D1B5E-6A2C-40EB-AEE3-8CDA64C0B960}">
      <dgm:prSet/>
      <dgm:spPr/>
      <dgm:t>
        <a:bodyPr/>
        <a:lstStyle/>
        <a:p>
          <a:endParaRPr lang="sv-SE"/>
        </a:p>
      </dgm:t>
    </dgm:pt>
    <dgm:pt modelId="{20936472-C691-409A-9029-EF02FBE39E96}">
      <dgm:prSet phldrT="[Text]" phldr="0"/>
      <dgm:spPr/>
      <dgm:t>
        <a:bodyPr/>
        <a:lstStyle/>
        <a:p>
          <a:br>
            <a:rPr lang="sv-SE" dirty="0"/>
          </a:br>
          <a:r>
            <a:rPr lang="sv-SE" dirty="0"/>
            <a:t>clean.csv</a:t>
          </a:r>
          <a:br>
            <a:rPr lang="sv-SE" dirty="0"/>
          </a:br>
          <a:endParaRPr lang="sv-SE" dirty="0"/>
        </a:p>
        <a:p>
          <a:r>
            <a:rPr lang="sv-SE" dirty="0"/>
            <a:t>rejected.csv</a:t>
          </a:r>
        </a:p>
        <a:p>
          <a:br>
            <a:rPr lang="sv-SE" dirty="0"/>
          </a:br>
          <a:r>
            <a:rPr lang="sv-SE" dirty="0"/>
            <a:t>validation_report.csv</a:t>
          </a:r>
        </a:p>
      </dgm:t>
    </dgm:pt>
    <dgm:pt modelId="{5062A30E-99BE-49C9-AC55-6E71EEE12EA8}" type="parTrans" cxnId="{982E610B-DBC2-4F34-8241-18DD48B5A650}">
      <dgm:prSet/>
      <dgm:spPr/>
      <dgm:t>
        <a:bodyPr/>
        <a:lstStyle/>
        <a:p>
          <a:endParaRPr lang="sv-SE"/>
        </a:p>
      </dgm:t>
    </dgm:pt>
    <dgm:pt modelId="{4BD7C461-DBF6-4975-BDEB-58B7115772C1}" type="sibTrans" cxnId="{982E610B-DBC2-4F34-8241-18DD48B5A650}">
      <dgm:prSet/>
      <dgm:spPr/>
      <dgm:t>
        <a:bodyPr/>
        <a:lstStyle/>
        <a:p>
          <a:endParaRPr lang="sv-SE"/>
        </a:p>
      </dgm:t>
    </dgm:pt>
    <dgm:pt modelId="{7090D8F7-6D61-4BB6-BCBA-46382D4F461A}">
      <dgm:prSet phldrT="[Text]"/>
      <dgm:spPr/>
      <dgm:t>
        <a:bodyPr/>
        <a:lstStyle/>
        <a:p>
          <a:endParaRPr lang="sv-SE" dirty="0"/>
        </a:p>
      </dgm:t>
    </dgm:pt>
    <dgm:pt modelId="{430DBEFE-655D-4820-B0C2-8EA0C01D9E5C}" type="parTrans" cxnId="{80A97942-82E2-4916-AAEE-7198C1046B94}">
      <dgm:prSet/>
      <dgm:spPr/>
      <dgm:t>
        <a:bodyPr/>
        <a:lstStyle/>
        <a:p>
          <a:endParaRPr lang="sv-SE"/>
        </a:p>
      </dgm:t>
    </dgm:pt>
    <dgm:pt modelId="{CE0941DD-9FDF-480A-99AC-AEE2BB7B71F7}" type="sibTrans" cxnId="{80A97942-82E2-4916-AAEE-7198C1046B94}">
      <dgm:prSet/>
      <dgm:spPr/>
      <dgm:t>
        <a:bodyPr/>
        <a:lstStyle/>
        <a:p>
          <a:endParaRPr lang="sv-SE"/>
        </a:p>
      </dgm:t>
    </dgm:pt>
    <dgm:pt modelId="{B78FFE20-9FE9-4F34-A274-434D0CD8302B}" type="pres">
      <dgm:prSet presAssocID="{DAB092DE-374B-484D-9CC4-A01B486B4420}" presName="Name0" presStyleCnt="0">
        <dgm:presLayoutVars>
          <dgm:dir/>
          <dgm:resizeHandles val="exact"/>
        </dgm:presLayoutVars>
      </dgm:prSet>
      <dgm:spPr/>
    </dgm:pt>
    <dgm:pt modelId="{D2EBE0FC-92B1-40EF-B883-B45CB26D47CF}" type="pres">
      <dgm:prSet presAssocID="{7FE13C54-6652-4EBC-9BE0-73A8BF41FD4D}" presName="node" presStyleLbl="node1" presStyleIdx="0" presStyleCnt="3">
        <dgm:presLayoutVars>
          <dgm:bulletEnabled val="1"/>
        </dgm:presLayoutVars>
      </dgm:prSet>
      <dgm:spPr/>
    </dgm:pt>
    <dgm:pt modelId="{63685845-B3C8-4B94-A904-371824CF73A6}" type="pres">
      <dgm:prSet presAssocID="{F12A28A3-1C1A-4A6E-B67B-858360B50AD0}" presName="sibTrans" presStyleLbl="sibTrans2D1" presStyleIdx="0" presStyleCnt="2"/>
      <dgm:spPr/>
    </dgm:pt>
    <dgm:pt modelId="{475DCCF0-A664-4595-A779-57E8AEF50E8A}" type="pres">
      <dgm:prSet presAssocID="{F12A28A3-1C1A-4A6E-B67B-858360B50AD0}" presName="connectorText" presStyleLbl="sibTrans2D1" presStyleIdx="0" presStyleCnt="2"/>
      <dgm:spPr/>
    </dgm:pt>
    <dgm:pt modelId="{55764AEA-E890-43A3-B6BF-BBF7EAC08A9F}" type="pres">
      <dgm:prSet presAssocID="{A31CE13F-6178-45A2-AF9A-02A7F2296E18}" presName="node" presStyleLbl="node1" presStyleIdx="1" presStyleCnt="3">
        <dgm:presLayoutVars>
          <dgm:bulletEnabled val="1"/>
        </dgm:presLayoutVars>
      </dgm:prSet>
      <dgm:spPr/>
    </dgm:pt>
    <dgm:pt modelId="{6930546D-641A-44A9-A757-C59256B38C8A}" type="pres">
      <dgm:prSet presAssocID="{E174A9AA-E2C1-4666-A00F-BC50F0609E14}" presName="sibTrans" presStyleLbl="sibTrans2D1" presStyleIdx="1" presStyleCnt="2"/>
      <dgm:spPr/>
    </dgm:pt>
    <dgm:pt modelId="{2DA3ADF8-00C2-40BC-AD3E-C71F81552F92}" type="pres">
      <dgm:prSet presAssocID="{E174A9AA-E2C1-4666-A00F-BC50F0609E14}" presName="connectorText" presStyleLbl="sibTrans2D1" presStyleIdx="1" presStyleCnt="2"/>
      <dgm:spPr/>
    </dgm:pt>
    <dgm:pt modelId="{176E67E6-B68E-4D82-A8CD-21768CE2DDB0}" type="pres">
      <dgm:prSet presAssocID="{20936472-C691-409A-9029-EF02FBE39E96}" presName="node" presStyleLbl="node1" presStyleIdx="2" presStyleCnt="3">
        <dgm:presLayoutVars>
          <dgm:bulletEnabled val="1"/>
        </dgm:presLayoutVars>
      </dgm:prSet>
      <dgm:spPr/>
    </dgm:pt>
  </dgm:ptLst>
  <dgm:cxnLst>
    <dgm:cxn modelId="{982E610B-DBC2-4F34-8241-18DD48B5A650}" srcId="{DAB092DE-374B-484D-9CC4-A01B486B4420}" destId="{20936472-C691-409A-9029-EF02FBE39E96}" srcOrd="2" destOrd="0" parTransId="{5062A30E-99BE-49C9-AC55-6E71EEE12EA8}" sibTransId="{4BD7C461-DBF6-4975-BDEB-58B7115772C1}"/>
    <dgm:cxn modelId="{9AA0031C-7951-4CB5-B7DD-8F22737F74F4}" type="presOf" srcId="{F12A28A3-1C1A-4A6E-B67B-858360B50AD0}" destId="{475DCCF0-A664-4595-A779-57E8AEF50E8A}" srcOrd="1" destOrd="0" presId="urn:microsoft.com/office/officeart/2005/8/layout/process1"/>
    <dgm:cxn modelId="{4904802A-CA87-4838-8F5F-5F7D79C0AA87}" type="presOf" srcId="{20936472-C691-409A-9029-EF02FBE39E96}" destId="{176E67E6-B68E-4D82-A8CD-21768CE2DDB0}" srcOrd="0" destOrd="0" presId="urn:microsoft.com/office/officeart/2005/8/layout/process1"/>
    <dgm:cxn modelId="{032D1B5E-6A2C-40EB-AEE3-8CDA64C0B960}" srcId="{DAB092DE-374B-484D-9CC4-A01B486B4420}" destId="{A31CE13F-6178-45A2-AF9A-02A7F2296E18}" srcOrd="1" destOrd="0" parTransId="{69679B73-BD96-4701-ACD2-DB0A2279D11B}" sibTransId="{E174A9AA-E2C1-4666-A00F-BC50F0609E14}"/>
    <dgm:cxn modelId="{80A97942-82E2-4916-AAEE-7198C1046B94}" srcId="{20936472-C691-409A-9029-EF02FBE39E96}" destId="{7090D8F7-6D61-4BB6-BCBA-46382D4F461A}" srcOrd="0" destOrd="0" parTransId="{430DBEFE-655D-4820-B0C2-8EA0C01D9E5C}" sibTransId="{CE0941DD-9FDF-480A-99AC-AEE2BB7B71F7}"/>
    <dgm:cxn modelId="{1FE08165-3923-409D-8532-4519F19A1EC5}" type="presOf" srcId="{E174A9AA-E2C1-4666-A00F-BC50F0609E14}" destId="{6930546D-641A-44A9-A757-C59256B38C8A}" srcOrd="0" destOrd="0" presId="urn:microsoft.com/office/officeart/2005/8/layout/process1"/>
    <dgm:cxn modelId="{C82E984D-BA32-45CD-BD81-5AC10E5B8DA9}" type="presOf" srcId="{7090D8F7-6D61-4BB6-BCBA-46382D4F461A}" destId="{176E67E6-B68E-4D82-A8CD-21768CE2DDB0}" srcOrd="0" destOrd="1" presId="urn:microsoft.com/office/officeart/2005/8/layout/process1"/>
    <dgm:cxn modelId="{CAE21252-EFC1-4391-BBEC-4BA8039F29A7}" type="presOf" srcId="{E174A9AA-E2C1-4666-A00F-BC50F0609E14}" destId="{2DA3ADF8-00C2-40BC-AD3E-C71F81552F92}" srcOrd="1" destOrd="0" presId="urn:microsoft.com/office/officeart/2005/8/layout/process1"/>
    <dgm:cxn modelId="{316FA284-F331-4366-9D5F-D5FEC5B7AA10}" type="presOf" srcId="{DAB092DE-374B-484D-9CC4-A01B486B4420}" destId="{B78FFE20-9FE9-4F34-A274-434D0CD8302B}" srcOrd="0" destOrd="0" presId="urn:microsoft.com/office/officeart/2005/8/layout/process1"/>
    <dgm:cxn modelId="{DBD8FF89-5FC0-4763-BC7B-48FBC7FE6D20}" type="presOf" srcId="{A31CE13F-6178-45A2-AF9A-02A7F2296E18}" destId="{55764AEA-E890-43A3-B6BF-BBF7EAC08A9F}" srcOrd="0" destOrd="0" presId="urn:microsoft.com/office/officeart/2005/8/layout/process1"/>
    <dgm:cxn modelId="{32248C9E-8106-4FEC-B3AF-B81C48ABD4D3}" type="presOf" srcId="{7FE13C54-6652-4EBC-9BE0-73A8BF41FD4D}" destId="{D2EBE0FC-92B1-40EF-B883-B45CB26D47CF}" srcOrd="0" destOrd="0" presId="urn:microsoft.com/office/officeart/2005/8/layout/process1"/>
    <dgm:cxn modelId="{E71D98AC-0FAC-44E9-B3F1-3E6AD75DCFD7}" srcId="{DAB092DE-374B-484D-9CC4-A01B486B4420}" destId="{7FE13C54-6652-4EBC-9BE0-73A8BF41FD4D}" srcOrd="0" destOrd="0" parTransId="{5B011863-EB54-4843-90E7-4CE00D1E3B2E}" sibTransId="{F12A28A3-1C1A-4A6E-B67B-858360B50AD0}"/>
    <dgm:cxn modelId="{80189CD0-1646-4D91-8D92-E3B807D976C6}" type="presOf" srcId="{F12A28A3-1C1A-4A6E-B67B-858360B50AD0}" destId="{63685845-B3C8-4B94-A904-371824CF73A6}" srcOrd="0" destOrd="0" presId="urn:microsoft.com/office/officeart/2005/8/layout/process1"/>
    <dgm:cxn modelId="{0CDEBECB-C3B0-4C43-82B9-9A61344BB2BA}" type="presParOf" srcId="{B78FFE20-9FE9-4F34-A274-434D0CD8302B}" destId="{D2EBE0FC-92B1-40EF-B883-B45CB26D47CF}" srcOrd="0" destOrd="0" presId="urn:microsoft.com/office/officeart/2005/8/layout/process1"/>
    <dgm:cxn modelId="{445C9626-153C-4CC8-9E51-F13813555CB8}" type="presParOf" srcId="{B78FFE20-9FE9-4F34-A274-434D0CD8302B}" destId="{63685845-B3C8-4B94-A904-371824CF73A6}" srcOrd="1" destOrd="0" presId="urn:microsoft.com/office/officeart/2005/8/layout/process1"/>
    <dgm:cxn modelId="{4106E944-28F4-4E41-8031-E9B6626257B6}" type="presParOf" srcId="{63685845-B3C8-4B94-A904-371824CF73A6}" destId="{475DCCF0-A664-4595-A779-57E8AEF50E8A}" srcOrd="0" destOrd="0" presId="urn:microsoft.com/office/officeart/2005/8/layout/process1"/>
    <dgm:cxn modelId="{BC2840C4-648A-4BC6-9860-B435027E8966}" type="presParOf" srcId="{B78FFE20-9FE9-4F34-A274-434D0CD8302B}" destId="{55764AEA-E890-43A3-B6BF-BBF7EAC08A9F}" srcOrd="2" destOrd="0" presId="urn:microsoft.com/office/officeart/2005/8/layout/process1"/>
    <dgm:cxn modelId="{7FBE097C-4B53-4A9C-B9D7-8FB3808C8132}" type="presParOf" srcId="{B78FFE20-9FE9-4F34-A274-434D0CD8302B}" destId="{6930546D-641A-44A9-A757-C59256B38C8A}" srcOrd="3" destOrd="0" presId="urn:microsoft.com/office/officeart/2005/8/layout/process1"/>
    <dgm:cxn modelId="{908E9D02-6B35-4D80-8252-1AE3C1BEAEA2}" type="presParOf" srcId="{6930546D-641A-44A9-A757-C59256B38C8A}" destId="{2DA3ADF8-00C2-40BC-AD3E-C71F81552F92}" srcOrd="0" destOrd="0" presId="urn:microsoft.com/office/officeart/2005/8/layout/process1"/>
    <dgm:cxn modelId="{DC26A280-B96D-4453-A08D-F286324A8749}" type="presParOf" srcId="{B78FFE20-9FE9-4F34-A274-434D0CD8302B}" destId="{176E67E6-B68E-4D82-A8CD-21768CE2DDB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BE0FC-92B1-40EF-B883-B45CB26D47CF}">
      <dsp:nvSpPr>
        <dsp:cNvPr id="0" name=""/>
        <dsp:cNvSpPr/>
      </dsp:nvSpPr>
      <dsp:spPr>
        <a:xfrm>
          <a:off x="8929" y="947698"/>
          <a:ext cx="2668984" cy="22769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800" kern="1200" dirty="0"/>
            <a:t>staged.csv</a:t>
          </a:r>
        </a:p>
      </dsp:txBody>
      <dsp:txXfrm>
        <a:off x="75619" y="1014388"/>
        <a:ext cx="2535604" cy="2143597"/>
      </dsp:txXfrm>
    </dsp:sp>
    <dsp:sp modelId="{63685845-B3C8-4B94-A904-371824CF73A6}">
      <dsp:nvSpPr>
        <dsp:cNvPr id="0" name=""/>
        <dsp:cNvSpPr/>
      </dsp:nvSpPr>
      <dsp:spPr>
        <a:xfrm>
          <a:off x="2944812" y="1755232"/>
          <a:ext cx="565824" cy="66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v-SE" sz="1400" kern="1200"/>
        </a:p>
      </dsp:txBody>
      <dsp:txXfrm>
        <a:off x="2944812" y="1887614"/>
        <a:ext cx="396077" cy="397144"/>
      </dsp:txXfrm>
    </dsp:sp>
    <dsp:sp modelId="{55764AEA-E890-43A3-B6BF-BBF7EAC08A9F}">
      <dsp:nvSpPr>
        <dsp:cNvPr id="0" name=""/>
        <dsp:cNvSpPr/>
      </dsp:nvSpPr>
      <dsp:spPr>
        <a:xfrm>
          <a:off x="3745507" y="947698"/>
          <a:ext cx="2668984" cy="22769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800" kern="1200" dirty="0" err="1"/>
            <a:t>Pandera</a:t>
          </a:r>
          <a:r>
            <a:rPr lang="sv-SE" sz="1800" kern="1200" dirty="0"/>
            <a:t> (</a:t>
          </a:r>
          <a:r>
            <a:rPr lang="sv-SE" sz="1800" kern="1200" dirty="0" err="1"/>
            <a:t>lazy</a:t>
          </a:r>
          <a:r>
            <a:rPr lang="sv-SE" sz="1800" kern="1200" dirty="0"/>
            <a:t>=True)</a:t>
          </a:r>
        </a:p>
      </dsp:txBody>
      <dsp:txXfrm>
        <a:off x="3812197" y="1014388"/>
        <a:ext cx="2535604" cy="2143597"/>
      </dsp:txXfrm>
    </dsp:sp>
    <dsp:sp modelId="{6930546D-641A-44A9-A757-C59256B38C8A}">
      <dsp:nvSpPr>
        <dsp:cNvPr id="0" name=""/>
        <dsp:cNvSpPr/>
      </dsp:nvSpPr>
      <dsp:spPr>
        <a:xfrm>
          <a:off x="6681390" y="1755232"/>
          <a:ext cx="565824" cy="66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v-SE" sz="1400" kern="1200"/>
        </a:p>
      </dsp:txBody>
      <dsp:txXfrm>
        <a:off x="6681390" y="1887614"/>
        <a:ext cx="396077" cy="397144"/>
      </dsp:txXfrm>
    </dsp:sp>
    <dsp:sp modelId="{176E67E6-B68E-4D82-A8CD-21768CE2DDB0}">
      <dsp:nvSpPr>
        <dsp:cNvPr id="0" name=""/>
        <dsp:cNvSpPr/>
      </dsp:nvSpPr>
      <dsp:spPr>
        <a:xfrm>
          <a:off x="7482085" y="947698"/>
          <a:ext cx="2668984" cy="22769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sv-SE" sz="1800" kern="1200" dirty="0"/>
          </a:br>
          <a:r>
            <a:rPr lang="sv-SE" sz="1800" kern="1200" dirty="0"/>
            <a:t>clean.csv</a:t>
          </a:r>
          <a:br>
            <a:rPr lang="sv-SE" sz="1800" kern="1200" dirty="0"/>
          </a:br>
          <a:endParaRPr lang="sv-SE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800" kern="1200" dirty="0"/>
            <a:t>rejected.csv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sv-SE" sz="1800" kern="1200" dirty="0"/>
          </a:br>
          <a:r>
            <a:rPr lang="sv-SE" sz="1800" kern="1200" dirty="0"/>
            <a:t>validation_report.csv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sv-SE" sz="1400" kern="1200" dirty="0"/>
        </a:p>
      </dsp:txBody>
      <dsp:txXfrm>
        <a:off x="7548775" y="1014388"/>
        <a:ext cx="2535604" cy="2143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787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644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4599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105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8650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095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011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505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944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4072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14585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4378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1997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6306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8705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3177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044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9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F0B2616-E8BA-4183-8415-DEB764DBBA8D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02E54-D433-4DA9-B534-489277DC1A4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29532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058" r:id="rId12"/>
    <p:sldLayoutId id="2147484059" r:id="rId13"/>
    <p:sldLayoutId id="2147484060" r:id="rId14"/>
    <p:sldLayoutId id="2147484061" r:id="rId15"/>
    <p:sldLayoutId id="2147484062" r:id="rId16"/>
    <p:sldLayoutId id="2147484063" r:id="rId17"/>
    <p:sldLayoutId id="214748406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5">
            <a:extLst>
              <a:ext uri="{FF2B5EF4-FFF2-40B4-BE49-F238E27FC236}">
                <a16:creationId xmlns:a16="http://schemas.microsoft.com/office/drawing/2014/main" id="{1E5B8314-AFD1-9809-810A-585B534A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84" y="258771"/>
            <a:ext cx="8382000" cy="701657"/>
          </a:xfrm>
        </p:spPr>
        <p:txBody>
          <a:bodyPr/>
          <a:lstStyle/>
          <a:p>
            <a:pPr algn="ctr"/>
            <a:r>
              <a:rPr lang="sv-SE" dirty="0"/>
              <a:t>Datavalidering med </a:t>
            </a:r>
            <a:r>
              <a:rPr lang="sv-SE" dirty="0" err="1"/>
              <a:t>Pandera</a:t>
            </a:r>
            <a:br>
              <a:rPr lang="sv-SE" dirty="0"/>
            </a:br>
            <a:r>
              <a:rPr lang="sv-SE" sz="2000" dirty="0"/>
              <a:t>Fördjupning i </a:t>
            </a:r>
            <a:r>
              <a:rPr lang="sv-SE" sz="2000" dirty="0" err="1"/>
              <a:t>Python</a:t>
            </a:r>
            <a:r>
              <a:rPr lang="sv-SE" sz="2000" dirty="0"/>
              <a:t>: Affärsregelvalidering av elnätsdata</a:t>
            </a:r>
            <a:endParaRPr lang="sv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77DE31FE-3218-0ADD-B562-97BD8D7A8C6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6393" y="2480692"/>
            <a:ext cx="4597400" cy="4348162"/>
          </a:xfrm>
        </p:spPr>
        <p:txBody>
          <a:bodyPr>
            <a:normAutofit/>
          </a:bodyPr>
          <a:lstStyle/>
          <a:p>
            <a:r>
              <a:rPr lang="sv-SE" sz="1800" dirty="0"/>
              <a:t>Rätt format är inte samma sak som rätt innehåll </a:t>
            </a:r>
            <a:br>
              <a:rPr lang="sv-SE" sz="1800" dirty="0"/>
            </a:br>
            <a:r>
              <a:rPr lang="sv-SE" sz="1800" dirty="0"/>
              <a:t>(En datamängd kan sakna </a:t>
            </a:r>
            <a:r>
              <a:rPr lang="sv-SE" sz="1800" dirty="0" err="1"/>
              <a:t>null</a:t>
            </a:r>
            <a:r>
              <a:rPr lang="sv-SE" sz="1800" dirty="0"/>
              <a:t>-värden och ha korrekta datatyper, men ändå bryta mot affärsregler)</a:t>
            </a:r>
          </a:p>
          <a:p>
            <a:r>
              <a:rPr lang="sv-SE" sz="1800" dirty="0"/>
              <a:t>Mål: Att </a:t>
            </a:r>
            <a:r>
              <a:rPr lang="sv-SE" sz="1800" dirty="0" err="1"/>
              <a:t>deklarativt</a:t>
            </a:r>
            <a:r>
              <a:rPr lang="sv-SE" sz="1800" dirty="0"/>
              <a:t> (regelbaserat) validera sambandsregler i dataflöden utan att krascha i förtid</a:t>
            </a:r>
          </a:p>
        </p:txBody>
      </p:sp>
      <p:sp>
        <p:nvSpPr>
          <p:cNvPr id="8" name="Platshållare för innehåll 7">
            <a:extLst>
              <a:ext uri="{FF2B5EF4-FFF2-40B4-BE49-F238E27FC236}">
                <a16:creationId xmlns:a16="http://schemas.microsoft.com/office/drawing/2014/main" id="{6B191FC0-A07D-3C21-FFE5-98BE149223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754625" y="2889504"/>
            <a:ext cx="5990335" cy="2551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sz="1800" dirty="0"/>
              <a:t>Steg 1: Syntaktisk kontroll (Datatyper, </a:t>
            </a:r>
            <a:r>
              <a:rPr lang="sv-SE" sz="1800" dirty="0" err="1"/>
              <a:t>NaN</a:t>
            </a:r>
            <a:r>
              <a:rPr lang="sv-SE" sz="1800" dirty="0"/>
              <a:t>, format)</a:t>
            </a:r>
          </a:p>
          <a:p>
            <a:pPr marL="0" indent="0">
              <a:buNone/>
            </a:pPr>
            <a:r>
              <a:rPr lang="sv-SE" sz="1800" dirty="0"/>
              <a:t>				”Teknisk ren data…”</a:t>
            </a:r>
          </a:p>
          <a:p>
            <a:pPr marL="0" indent="0">
              <a:buNone/>
            </a:pPr>
            <a:r>
              <a:rPr lang="sv-SE" sz="1800" dirty="0"/>
              <a:t>Steg 2: Semantisk validering (Affärsregler &amp; relationer)</a:t>
            </a:r>
          </a:p>
          <a:p>
            <a:pPr marL="0" indent="0">
              <a:buNone/>
            </a:pPr>
            <a:r>
              <a:rPr lang="sv-SE" sz="1800" dirty="0"/>
              <a:t>				Pålitlig data för analys</a:t>
            </a:r>
          </a:p>
        </p:txBody>
      </p:sp>
      <p:cxnSp>
        <p:nvCxnSpPr>
          <p:cNvPr id="13" name="Rak pilkoppling 12">
            <a:extLst>
              <a:ext uri="{FF2B5EF4-FFF2-40B4-BE49-F238E27FC236}">
                <a16:creationId xmlns:a16="http://schemas.microsoft.com/office/drawing/2014/main" id="{40B05610-1EE8-F750-A05B-8FE1174208A9}"/>
              </a:ext>
            </a:extLst>
          </p:cNvPr>
          <p:cNvCxnSpPr>
            <a:cxnSpLocks/>
          </p:cNvCxnSpPr>
          <p:nvPr/>
        </p:nvCxnSpPr>
        <p:spPr>
          <a:xfrm>
            <a:off x="6437376" y="3520440"/>
            <a:ext cx="96012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ak pilkoppling 15">
            <a:extLst>
              <a:ext uri="{FF2B5EF4-FFF2-40B4-BE49-F238E27FC236}">
                <a16:creationId xmlns:a16="http://schemas.microsoft.com/office/drawing/2014/main" id="{6FAD2082-BD99-750E-2881-7895C050F378}"/>
              </a:ext>
            </a:extLst>
          </p:cNvPr>
          <p:cNvCxnSpPr>
            <a:cxnSpLocks/>
          </p:cNvCxnSpPr>
          <p:nvPr/>
        </p:nvCxnSpPr>
        <p:spPr>
          <a:xfrm>
            <a:off x="6437376" y="4557427"/>
            <a:ext cx="96012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196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0ED3DBF-EBF2-B669-9400-09E17666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800" dirty="0"/>
              <a:t>Varför </a:t>
            </a:r>
            <a:r>
              <a:rPr lang="sv-SE" sz="2800" dirty="0" err="1"/>
              <a:t>Pandera</a:t>
            </a:r>
            <a:r>
              <a:rPr lang="sv-SE" sz="2800" dirty="0"/>
              <a:t>? </a:t>
            </a:r>
            <a:br>
              <a:rPr lang="sv-SE" sz="2800" dirty="0"/>
            </a:br>
            <a:r>
              <a:rPr lang="sv-SE" sz="2800" dirty="0"/>
              <a:t>Från imperativ kod till </a:t>
            </a:r>
            <a:r>
              <a:rPr lang="sv-SE" sz="2800" dirty="0" err="1"/>
              <a:t>deklarativa</a:t>
            </a:r>
            <a:r>
              <a:rPr lang="sv-SE" sz="2800" dirty="0"/>
              <a:t> scheman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E43D97BC-7AB4-1957-47D4-6789F36DE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164" y="2221142"/>
            <a:ext cx="4025440" cy="1440000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1D73544B-8400-8FC2-5242-0660483F7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398" y="2221142"/>
            <a:ext cx="3502240" cy="1440000"/>
          </a:xfrm>
          <a:prstGeom prst="rect">
            <a:avLst/>
          </a:prstGeom>
        </p:spPr>
      </p:pic>
      <p:sp>
        <p:nvSpPr>
          <p:cNvPr id="14" name="textruta 13">
            <a:extLst>
              <a:ext uri="{FF2B5EF4-FFF2-40B4-BE49-F238E27FC236}">
                <a16:creationId xmlns:a16="http://schemas.microsoft.com/office/drawing/2014/main" id="{E46E383E-6D28-E59A-31BD-375227C03020}"/>
              </a:ext>
            </a:extLst>
          </p:cNvPr>
          <p:cNvSpPr txBox="1"/>
          <p:nvPr/>
        </p:nvSpPr>
        <p:spPr>
          <a:xfrm>
            <a:off x="2206100" y="1852529"/>
            <a:ext cx="263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Manuellt</a:t>
            </a: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16B89754-4735-7ADA-63D2-7785B53F678A}"/>
              </a:ext>
            </a:extLst>
          </p:cNvPr>
          <p:cNvSpPr txBox="1"/>
          <p:nvPr/>
        </p:nvSpPr>
        <p:spPr>
          <a:xfrm>
            <a:off x="6739972" y="1884683"/>
            <a:ext cx="402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Regelbaserat med </a:t>
            </a:r>
            <a:r>
              <a:rPr lang="sv-SE" dirty="0" err="1"/>
              <a:t>Pandera</a:t>
            </a:r>
            <a:endParaRPr lang="sv-SE" dirty="0"/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1E6FC959-962F-D0ED-B660-59C57E82B142}"/>
              </a:ext>
            </a:extLst>
          </p:cNvPr>
          <p:cNvSpPr txBox="1"/>
          <p:nvPr/>
        </p:nvSpPr>
        <p:spPr>
          <a:xfrm>
            <a:off x="1674188" y="4370465"/>
            <a:ext cx="8843623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000" dirty="0" err="1"/>
              <a:t>Deklarativt</a:t>
            </a:r>
            <a:r>
              <a:rPr lang="sv-SE" sz="2000" dirty="0"/>
              <a:t>: Definiera </a:t>
            </a:r>
            <a:r>
              <a:rPr lang="sv-SE" sz="2000" i="1" dirty="0"/>
              <a:t>vad </a:t>
            </a:r>
            <a:r>
              <a:rPr lang="sv-SE" sz="2000" dirty="0"/>
              <a:t>som ska gälla, slipp manuella loopar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000" dirty="0"/>
              <a:t>Vektoriserat: Utnyttjar Pandas beräkningskraft under huven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000" dirty="0"/>
              <a:t>Multi-kolumnstöd: Skapat för att granska samband över hela rader</a:t>
            </a:r>
          </a:p>
        </p:txBody>
      </p:sp>
    </p:spTree>
    <p:extLst>
      <p:ext uri="{BB962C8B-B14F-4D97-AF65-F5344CB8AC3E}">
        <p14:creationId xmlns:p14="http://schemas.microsoft.com/office/powerpoint/2010/main" val="379800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21A65AD-95A6-F8C3-7BEB-0D3C59BB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5146"/>
          </a:xfrm>
        </p:spPr>
        <p:txBody>
          <a:bodyPr/>
          <a:lstStyle/>
          <a:p>
            <a:r>
              <a:rPr lang="sv-SE" sz="2800" dirty="0" err="1"/>
              <a:t>DataFrameSchema</a:t>
            </a:r>
            <a:r>
              <a:rPr lang="sv-SE" sz="2800" dirty="0"/>
              <a:t> – Regler över kolumngränser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7C0DBC0-26D9-6A77-B21E-98AFA7940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95" y="1197864"/>
            <a:ext cx="6156000" cy="1725390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CA0694E8-C451-4382-7625-3A1843A6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95" y="3279870"/>
            <a:ext cx="6156000" cy="1740609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8FC4BE0D-6CC8-6348-4ACA-51D29B2C8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95" y="5377095"/>
            <a:ext cx="6156000" cy="780102"/>
          </a:xfrm>
          <a:prstGeom prst="rect">
            <a:avLst/>
          </a:prstGeom>
        </p:spPr>
      </p:pic>
      <p:sp>
        <p:nvSpPr>
          <p:cNvPr id="9" name="textruta 8">
            <a:extLst>
              <a:ext uri="{FF2B5EF4-FFF2-40B4-BE49-F238E27FC236}">
                <a16:creationId xmlns:a16="http://schemas.microsoft.com/office/drawing/2014/main" id="{DFAC7D7E-ED20-3DF2-857F-5DE5F7719224}"/>
              </a:ext>
            </a:extLst>
          </p:cNvPr>
          <p:cNvSpPr txBox="1"/>
          <p:nvPr/>
        </p:nvSpPr>
        <p:spPr>
          <a:xfrm>
            <a:off x="6901995" y="2487798"/>
            <a:ext cx="5078486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Kolumnregler: Enskilda villkor, t ex att </a:t>
            </a:r>
            <a:r>
              <a:rPr lang="sv-SE" dirty="0" err="1"/>
              <a:t>incident_id</a:t>
            </a:r>
            <a:r>
              <a:rPr lang="sv-SE" dirty="0"/>
              <a:t> måste vara unikt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Tabellregler (checks): Korsvalidering mellan </a:t>
            </a:r>
            <a:r>
              <a:rPr lang="sv-SE" dirty="0" err="1"/>
              <a:t>end_time</a:t>
            </a:r>
            <a:r>
              <a:rPr lang="sv-SE" dirty="0"/>
              <a:t> och </a:t>
            </a:r>
            <a:r>
              <a:rPr lang="sv-SE" dirty="0" err="1"/>
              <a:t>start_time</a:t>
            </a:r>
            <a:r>
              <a:rPr lang="sv-SE" dirty="0"/>
              <a:t>, sluttiden för ett avbrott måste inträffa samtidigt eller efter starttiden</a:t>
            </a:r>
          </a:p>
        </p:txBody>
      </p:sp>
    </p:spTree>
    <p:extLst>
      <p:ext uri="{BB962C8B-B14F-4D97-AF65-F5344CB8AC3E}">
        <p14:creationId xmlns:p14="http://schemas.microsoft.com/office/powerpoint/2010/main" val="414650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DA139F-D0F6-A419-52F3-C0687FC18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800" dirty="0" err="1"/>
              <a:t>Nyckelval</a:t>
            </a:r>
            <a:r>
              <a:rPr lang="sv-SE" sz="2800" dirty="0"/>
              <a:t>: Helhetsbild med </a:t>
            </a:r>
            <a:r>
              <a:rPr lang="sv-SE" sz="2800" dirty="0" err="1"/>
              <a:t>lazy</a:t>
            </a:r>
            <a:r>
              <a:rPr lang="sv-SE" sz="2800" dirty="0"/>
              <a:t>=True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940F245-D2CE-44DD-2EE6-AA759620D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181051"/>
            <a:ext cx="5153744" cy="2495898"/>
          </a:xfrm>
          <a:prstGeom prst="rect">
            <a:avLst/>
          </a:prstGeo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FF43EC2D-9F58-0C1F-F893-63AC95E7A692}"/>
              </a:ext>
            </a:extLst>
          </p:cNvPr>
          <p:cNvSpPr txBox="1"/>
          <p:nvPr/>
        </p:nvSpPr>
        <p:spPr>
          <a:xfrm>
            <a:off x="6209267" y="1157762"/>
            <a:ext cx="5449333" cy="5025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sv-SE" b="1" dirty="0"/>
              <a:t>Standard: </a:t>
            </a:r>
            <a:r>
              <a:rPr lang="sv-SE" b="1" dirty="0" err="1"/>
              <a:t>lazy</a:t>
            </a:r>
            <a:r>
              <a:rPr lang="sv-SE" b="1" dirty="0"/>
              <a:t>=</a:t>
            </a:r>
            <a:r>
              <a:rPr lang="sv-SE" b="1" dirty="0" err="1"/>
              <a:t>False</a:t>
            </a:r>
            <a:endParaRPr lang="sv-SE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Kraschar vid första ogiltiga cellen (</a:t>
            </a:r>
            <a:r>
              <a:rPr lang="sv-SE" dirty="0" err="1"/>
              <a:t>SchemaError</a:t>
            </a:r>
            <a:r>
              <a:rPr lang="sv-SE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Pipelinen avbryts direkt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Man måste rätta ett fel i taget och köra om</a:t>
            </a:r>
          </a:p>
          <a:p>
            <a:pPr>
              <a:lnSpc>
                <a:spcPct val="150000"/>
              </a:lnSpc>
            </a:pPr>
            <a:r>
              <a:rPr lang="sv-SE" b="1" dirty="0"/>
              <a:t>Mitt val: </a:t>
            </a:r>
            <a:r>
              <a:rPr lang="sv-SE" b="1" dirty="0" err="1"/>
              <a:t>lazy</a:t>
            </a:r>
            <a:r>
              <a:rPr lang="sv-SE" b="1" dirty="0"/>
              <a:t>=True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Granskar hela datamängden i en och samma körning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Samlar samtliga avvikelser i ett </a:t>
            </a:r>
            <a:r>
              <a:rPr lang="sv-SE" dirty="0" err="1"/>
              <a:t>SchemaErrors</a:t>
            </a:r>
            <a:r>
              <a:rPr lang="sv-SE" dirty="0"/>
              <a:t>-objekt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Returnerar </a:t>
            </a:r>
            <a:r>
              <a:rPr lang="sv-SE" dirty="0" err="1"/>
              <a:t>failure_cases</a:t>
            </a:r>
            <a:r>
              <a:rPr lang="sv-SE" dirty="0"/>
              <a:t> med radnummer och felorsak</a:t>
            </a:r>
          </a:p>
        </p:txBody>
      </p:sp>
    </p:spTree>
    <p:extLst>
      <p:ext uri="{BB962C8B-B14F-4D97-AF65-F5344CB8AC3E}">
        <p14:creationId xmlns:p14="http://schemas.microsoft.com/office/powerpoint/2010/main" val="299020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004ED72-4BC4-9A7E-4ACC-F933A7F71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800" dirty="0"/>
              <a:t>Output: Att inte gömma dålig data 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11161BF5-AF67-F5DE-FD0B-33E6CDDD42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840327"/>
              </p:ext>
            </p:extLst>
          </p:nvPr>
        </p:nvGraphicFramePr>
        <p:xfrm>
          <a:off x="861568" y="701379"/>
          <a:ext cx="10160000" cy="4172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ruta 18">
            <a:extLst>
              <a:ext uri="{FF2B5EF4-FFF2-40B4-BE49-F238E27FC236}">
                <a16:creationId xmlns:a16="http://schemas.microsoft.com/office/drawing/2014/main" id="{ADEB4560-933E-6EB6-846B-A8610FEAD088}"/>
              </a:ext>
            </a:extLst>
          </p:cNvPr>
          <p:cNvSpPr txBox="1"/>
          <p:nvPr/>
        </p:nvSpPr>
        <p:spPr>
          <a:xfrm>
            <a:off x="861569" y="4479321"/>
            <a:ext cx="10159999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Datakvalitet: Felaktiga rader döljs inte utan separeras för felsökning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Karantänshantering: rejected.csv fångar poster som bryter mot affärslogiken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/>
              <a:t>Spårbarhet: validation_report.csv specificerar radindex, kolumn och bruten regel</a:t>
            </a:r>
          </a:p>
        </p:txBody>
      </p:sp>
    </p:spTree>
    <p:extLst>
      <p:ext uri="{BB962C8B-B14F-4D97-AF65-F5344CB8AC3E}">
        <p14:creationId xmlns:p14="http://schemas.microsoft.com/office/powerpoint/2010/main" val="4113121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9DABCBA-4200-AF65-5E8E-C423B1B01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609600"/>
            <a:ext cx="8382000" cy="701657"/>
          </a:xfrm>
        </p:spPr>
        <p:txBody>
          <a:bodyPr/>
          <a:lstStyle/>
          <a:p>
            <a:r>
              <a:rPr lang="sv-SE" sz="2800" dirty="0"/>
              <a:t>Begränsningar samt relevans för Data Science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814185F-B577-5071-C1F1-7EE40EBCFBA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662494"/>
            <a:ext cx="5319776" cy="4348162"/>
          </a:xfrm>
        </p:spPr>
        <p:txBody>
          <a:bodyPr/>
          <a:lstStyle/>
          <a:p>
            <a:r>
              <a:rPr lang="sv-SE" b="1" dirty="0"/>
              <a:t>Begränsningar med </a:t>
            </a:r>
            <a:r>
              <a:rPr lang="sv-SE" b="1" dirty="0" err="1"/>
              <a:t>Pandera</a:t>
            </a:r>
            <a:endParaRPr lang="sv-SE" b="1" dirty="0"/>
          </a:p>
          <a:p>
            <a:pPr lvl="1"/>
            <a:r>
              <a:rPr lang="sv-SE" dirty="0"/>
              <a:t>Kräver RAM-minne (in-</a:t>
            </a:r>
            <a:r>
              <a:rPr lang="sv-SE" dirty="0" err="1"/>
              <a:t>memory</a:t>
            </a:r>
            <a:r>
              <a:rPr lang="sv-SE" dirty="0"/>
              <a:t>): </a:t>
            </a:r>
            <a:r>
              <a:rPr lang="sv-SE" dirty="0" err="1"/>
              <a:t>lazy</a:t>
            </a:r>
            <a:r>
              <a:rPr lang="sv-SE" dirty="0"/>
              <a:t>=True samlar alla fel i minnet. Vid stora datamängder behöver man titta på </a:t>
            </a:r>
            <a:r>
              <a:rPr lang="sv-SE" dirty="0" err="1"/>
              <a:t>Panderas</a:t>
            </a:r>
            <a:r>
              <a:rPr lang="sv-SE" dirty="0"/>
              <a:t> stöd för Polars eller </a:t>
            </a:r>
            <a:r>
              <a:rPr lang="sv-SE" dirty="0" err="1"/>
              <a:t>PySpark</a:t>
            </a:r>
            <a:endParaRPr lang="sv-SE" dirty="0"/>
          </a:p>
          <a:p>
            <a:pPr lvl="1"/>
            <a:r>
              <a:rPr lang="sv-SE" dirty="0"/>
              <a:t>Byggt för </a:t>
            </a:r>
            <a:r>
              <a:rPr lang="sv-SE" dirty="0" err="1"/>
              <a:t>batch</a:t>
            </a:r>
            <a:r>
              <a:rPr lang="sv-SE" dirty="0"/>
              <a:t>, inte strömmande: För händelsestyrd data och realtidsloggar (rad-för-rad) är </a:t>
            </a:r>
            <a:r>
              <a:rPr lang="sv-SE" dirty="0" err="1"/>
              <a:t>Pydantic</a:t>
            </a:r>
            <a:r>
              <a:rPr lang="sv-SE" dirty="0"/>
              <a:t> ett bättre verktyg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110CF210-690D-A5FC-7BC1-32717BC597D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14768" y="1662494"/>
            <a:ext cx="5798064" cy="4518850"/>
          </a:xfrm>
        </p:spPr>
        <p:txBody>
          <a:bodyPr/>
          <a:lstStyle/>
          <a:p>
            <a:r>
              <a:rPr lang="sv-SE" b="1" dirty="0"/>
              <a:t>Relevans för Data Science</a:t>
            </a:r>
          </a:p>
          <a:p>
            <a:pPr lvl="1"/>
            <a:r>
              <a:rPr lang="sv-SE" dirty="0"/>
              <a:t>Pålitliga beslutsunderlag: Analyser och modeller blir aldrig bättre än kvaliteten på </a:t>
            </a:r>
            <a:r>
              <a:rPr lang="sv-SE" dirty="0" err="1"/>
              <a:t>grunddatan</a:t>
            </a:r>
            <a:endParaRPr lang="sv-SE" dirty="0"/>
          </a:p>
          <a:p>
            <a:pPr lvl="1"/>
            <a:r>
              <a:rPr lang="sv-SE" dirty="0"/>
              <a:t>Fångar komplexa fel: Manuell validering missar lätt fel som uppstår i relationer mellan flera kolumner</a:t>
            </a:r>
          </a:p>
          <a:p>
            <a:pPr lvl="1"/>
            <a:r>
              <a:rPr lang="sv-SE" dirty="0"/>
              <a:t>Data </a:t>
            </a:r>
            <a:r>
              <a:rPr lang="sv-SE" dirty="0" err="1"/>
              <a:t>Contracts</a:t>
            </a:r>
            <a:r>
              <a:rPr lang="sv-SE" dirty="0"/>
              <a:t> i </a:t>
            </a:r>
            <a:r>
              <a:rPr lang="sv-SE" dirty="0" err="1"/>
              <a:t>DataFrames</a:t>
            </a:r>
            <a:r>
              <a:rPr lang="sv-SE" dirty="0"/>
              <a:t>: </a:t>
            </a:r>
            <a:r>
              <a:rPr lang="sv-SE" dirty="0" err="1"/>
              <a:t>Deklarativa</a:t>
            </a:r>
            <a:r>
              <a:rPr lang="sv-SE" dirty="0"/>
              <a:t> scheman sätter en tydlig standard för vad koden förväntar sig och minskar risken för att fel sprider sig nedströms</a:t>
            </a:r>
          </a:p>
        </p:txBody>
      </p:sp>
    </p:spTree>
    <p:extLst>
      <p:ext uri="{BB962C8B-B14F-4D97-AF65-F5344CB8AC3E}">
        <p14:creationId xmlns:p14="http://schemas.microsoft.com/office/powerpoint/2010/main" val="4175223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">
  <a:themeElements>
    <a:clrScheme name="Anpassat 2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C59DC3"/>
      </a:accent1>
      <a:accent2>
        <a:srgbClr val="764674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J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TM02836342[[fn=Jon]]</Template>
  <TotalTime>257</TotalTime>
  <Words>418</Words>
  <Application>Microsoft Office PowerPoint</Application>
  <PresentationFormat>Bredbild</PresentationFormat>
  <Paragraphs>42</Paragraphs>
  <Slides>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Jon</vt:lpstr>
      <vt:lpstr>Datavalidering med Pandera Fördjupning i Python: Affärsregelvalidering av elnätsdata</vt:lpstr>
      <vt:lpstr>Varför Pandera?  Från imperativ kod till deklarativa scheman</vt:lpstr>
      <vt:lpstr>DataFrameSchema – Regler över kolumngränser</vt:lpstr>
      <vt:lpstr>Nyckelval: Helhetsbild med lazy=True</vt:lpstr>
      <vt:lpstr>Output: Att inte gömma dålig data </vt:lpstr>
      <vt:lpstr>Begränsningar samt relevans för Data Science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Josefin Oleryd</dc:creator>
  <cp:lastModifiedBy>Josefin Oleryd</cp:lastModifiedBy>
  <cp:revision>12</cp:revision>
  <dcterms:created xsi:type="dcterms:W3CDTF">2026-09-23T06:06:20Z</dcterms:created>
  <dcterms:modified xsi:type="dcterms:W3CDTF">2026-09-23T19:04:45Z</dcterms:modified>
</cp:coreProperties>
</file>